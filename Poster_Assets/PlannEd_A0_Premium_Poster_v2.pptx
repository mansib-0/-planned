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99"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40000" y="1080000"/>
            <a:ext cx="5400000" cy="2160000"/>
          </a:xfrm>
          <a:prstGeom prst="rect">
            <a:avLst/>
          </a:prstGeom>
          <a:noFill/>
        </p:spPr>
        <p:txBody>
          <a:bodyPr wrap="none">
            <a:spAutoFit/>
          </a:bodyPr>
          <a:lstStyle/>
          <a:p>
            <a:pPr algn="ctr">
              <a:defRPr b="1" sz="10000">
                <a:latin typeface="Open Sans"/>
              </a:defRPr>
            </a:pPr>
            <a:r>
              <a:t>P·E</a:t>
            </a:r>
          </a:p>
          <a:p>
            <a:pPr algn="ctr">
              <a:defRPr b="1" sz="2600"/>
            </a:pPr>
            <a:r>
              <a:t>Computer Science</a:t>
            </a:r>
          </a:p>
        </p:txBody>
      </p:sp>
      <p:sp>
        <p:nvSpPr>
          <p:cNvPr id="3" name="Rectangle 2"/>
          <p:cNvSpPr/>
          <p:nvPr/>
        </p:nvSpPr>
        <p:spPr>
          <a:xfrm>
            <a:off x="1440000" y="3240000"/>
            <a:ext cx="5400000" cy="72000"/>
          </a:xfrm>
          <a:prstGeom prst="rect">
            <a:avLst/>
          </a:prstGeom>
          <a:solidFill>
            <a:srgbClr val="222222"/>
          </a:solidFill>
          <a:ln>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1080000"/>
            <a:ext cx="20880000" cy="2160000"/>
          </a:xfrm>
          <a:prstGeom prst="rect">
            <a:avLst/>
          </a:prstGeom>
          <a:noFill/>
        </p:spPr>
        <p:txBody>
          <a:bodyPr wrap="square">
            <a:spAutoFit/>
          </a:bodyPr>
          <a:lstStyle/>
          <a:p>
            <a:pPr>
              <a:defRPr b="1" sz="8000">
                <a:solidFill>
                  <a:srgbClr val="EF7A21"/>
                </a:solidFill>
              </a:defRPr>
            </a:pPr>
            <a:r>
              <a:t>PlannEd: Hands-Free Task Scheduling &amp; Padding</a:t>
            </a:r>
          </a:p>
          <a:p>
            <a:pPr>
              <a:spcBef>
                <a:spcPts val="2000"/>
              </a:spcBef>
              <a:defRPr b="1" sz="3800">
                <a:solidFill>
                  <a:srgbClr val="222222"/>
                </a:solidFill>
              </a:defRPr>
            </a:pPr>
            <a:r>
              <a:t>Researchers: Md. Saiful Islam Mansib &amp; Taniha shiaree tripura</a:t>
            </a:r>
          </a:p>
          <a:p>
            <a:pPr>
              <a:defRPr b="1" sz="3800">
                <a:solidFill>
                  <a:srgbClr val="222222"/>
                </a:solidFill>
              </a:defRPr>
            </a:pPr>
            <a:r>
              <a:t>IDs: 2111712042 &amp; 213882042</a:t>
            </a:r>
          </a:p>
        </p:txBody>
      </p:sp>
      <p:sp>
        <p:nvSpPr>
          <p:cNvPr id="5" name="Rectangle 4"/>
          <p:cNvSpPr/>
          <p:nvPr/>
        </p:nvSpPr>
        <p:spPr>
          <a:xfrm>
            <a:off x="0" y="4320000"/>
            <a:ext cx="30275999" cy="1800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6500">
                <a:solidFill>
                  <a:srgbClr val="FFFFFF"/>
                </a:solidFill>
              </a:defRPr>
            </a:pPr>
            <a:r>
              <a:t>AI-Driven Mobile Application &amp; Machine Learning</a:t>
            </a:r>
          </a:p>
        </p:txBody>
      </p:sp>
      <p:sp>
        <p:nvSpPr>
          <p:cNvPr id="6" name="TextBox 5"/>
          <p:cNvSpPr txBox="1"/>
          <p:nvPr/>
        </p:nvSpPr>
        <p:spPr>
          <a:xfrm>
            <a:off x="1440000" y="6840000"/>
            <a:ext cx="8280000" cy="1080000"/>
          </a:xfrm>
          <a:prstGeom prst="rect">
            <a:avLst/>
          </a:prstGeom>
          <a:noFill/>
        </p:spPr>
        <p:txBody>
          <a:bodyPr wrap="none">
            <a:spAutoFit/>
          </a:bodyPr>
          <a:lstStyle/>
          <a:p>
            <a:pPr>
              <a:defRPr b="1" sz="5200">
                <a:solidFill>
                  <a:srgbClr val="222222"/>
                </a:solidFill>
              </a:defRPr>
            </a:pPr>
            <a:r>
              <a:t>Introduction</a:t>
            </a:r>
          </a:p>
        </p:txBody>
      </p:sp>
      <p:sp>
        <p:nvSpPr>
          <p:cNvPr id="7" name="Rectangle 6"/>
          <p:cNvSpPr/>
          <p:nvPr/>
        </p:nvSpPr>
        <p:spPr>
          <a:xfrm>
            <a:off x="1440000" y="7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40000" y="8280000"/>
            <a:ext cx="8280000" cy="3600000"/>
          </a:xfrm>
          <a:prstGeom prst="rect">
            <a:avLst/>
          </a:prstGeom>
          <a:noFill/>
        </p:spPr>
        <p:txBody>
          <a:bodyPr wrap="square">
            <a:spAutoFit/>
          </a:bodyPr>
          <a:lstStyle/>
          <a:p>
            <a:pPr>
              <a:spcAft>
                <a:spcPts val="2000"/>
              </a:spcAft>
              <a:defRPr sz="2600">
                <a:solidFill>
                  <a:srgbClr val="222222"/>
                </a:solidFill>
              </a:defRPr>
            </a:pPr>
            <a:r>
              <a:t>PlannEd is a next-generation Android application designed to eliminate human bias in scheduling. It introduces a totally native, offline Multi-Layer Perceptron (MLP) neural network using Jetpack Compose to calculate user-specific task padding dynamically. This is coupled with offline Natural Language Processing (NLP) for intuitive hands-free Voice control, allowing fluid schedule management without network latency.</a:t>
            </a:r>
          </a:p>
        </p:txBody>
      </p:sp>
      <p:sp>
        <p:nvSpPr>
          <p:cNvPr id="9" name="TextBox 8"/>
          <p:cNvSpPr txBox="1"/>
          <p:nvPr/>
        </p:nvSpPr>
        <p:spPr>
          <a:xfrm>
            <a:off x="1440000" y="15840000"/>
            <a:ext cx="8280000" cy="1080000"/>
          </a:xfrm>
          <a:prstGeom prst="rect">
            <a:avLst/>
          </a:prstGeom>
          <a:noFill/>
        </p:spPr>
        <p:txBody>
          <a:bodyPr wrap="none">
            <a:spAutoFit/>
          </a:bodyPr>
          <a:lstStyle/>
          <a:p>
            <a:pPr>
              <a:defRPr b="1" sz="5200">
                <a:solidFill>
                  <a:srgbClr val="222222"/>
                </a:solidFill>
              </a:defRPr>
            </a:pPr>
            <a:r>
              <a:t>Abstract</a:t>
            </a:r>
          </a:p>
        </p:txBody>
      </p:sp>
      <p:sp>
        <p:nvSpPr>
          <p:cNvPr id="10" name="Rectangle 9"/>
          <p:cNvSpPr/>
          <p:nvPr/>
        </p:nvSpPr>
        <p:spPr>
          <a:xfrm>
            <a:off x="1440000" y="16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40000" y="17280000"/>
            <a:ext cx="8280000" cy="3600000"/>
          </a:xfrm>
          <a:prstGeom prst="rect">
            <a:avLst/>
          </a:prstGeom>
          <a:noFill/>
        </p:spPr>
        <p:txBody>
          <a:bodyPr wrap="square">
            <a:spAutoFit/>
          </a:bodyPr>
          <a:lstStyle/>
          <a:p>
            <a:pPr>
              <a:spcAft>
                <a:spcPts val="2000"/>
              </a:spcAft>
              <a:defRPr sz="2600">
                <a:solidFill>
                  <a:srgbClr val="222222"/>
                </a:solidFill>
              </a:defRPr>
            </a:pPr>
            <a:r>
              <a:t>Traditional planners require manual configuration of buffer times and tedious typing. Users often under-estimate the time tasks take, leading to missed deadlines and burnout. PlannEd solves this by synthesizing an offline deep neural network directly into Kotlin matrices, applying dynamic baseline padding to tasks while supporting seamless hands-free operation via a custom native NLP engine.</a:t>
            </a:r>
          </a:p>
        </p:txBody>
      </p:sp>
      <p:sp>
        <p:nvSpPr>
          <p:cNvPr id="12" name="TextBox 11"/>
          <p:cNvSpPr txBox="1"/>
          <p:nvPr/>
        </p:nvSpPr>
        <p:spPr>
          <a:xfrm>
            <a:off x="1440000" y="24840000"/>
            <a:ext cx="8280000" cy="1080000"/>
          </a:xfrm>
          <a:prstGeom prst="rect">
            <a:avLst/>
          </a:prstGeom>
          <a:noFill/>
        </p:spPr>
        <p:txBody>
          <a:bodyPr wrap="none">
            <a:spAutoFit/>
          </a:bodyPr>
          <a:lstStyle/>
          <a:p>
            <a:pPr>
              <a:defRPr b="1" sz="5200">
                <a:solidFill>
                  <a:srgbClr val="222222"/>
                </a:solidFill>
              </a:defRPr>
            </a:pPr>
            <a:r>
              <a:t>Problem Statement</a:t>
            </a:r>
          </a:p>
        </p:txBody>
      </p:sp>
      <p:sp>
        <p:nvSpPr>
          <p:cNvPr id="13" name="Rectangle 12"/>
          <p:cNvSpPr/>
          <p:nvPr/>
        </p:nvSpPr>
        <p:spPr>
          <a:xfrm>
            <a:off x="1440000" y="25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40000" y="26280000"/>
            <a:ext cx="8280000" cy="3600000"/>
          </a:xfrm>
          <a:prstGeom prst="rect">
            <a:avLst/>
          </a:prstGeom>
          <a:noFill/>
        </p:spPr>
        <p:txBody>
          <a:bodyPr wrap="square">
            <a:spAutoFit/>
          </a:bodyPr>
          <a:lstStyle/>
          <a:p>
            <a:pPr>
              <a:spcAft>
                <a:spcPts val="2000"/>
              </a:spcAft>
              <a:defRPr sz="2600">
                <a:solidFill>
                  <a:srgbClr val="222222"/>
                </a:solidFill>
              </a:defRPr>
            </a:pPr>
            <a:r>
              <a:t>Scheduling apps struggle with two friction points: (1) Manual data entry is slow. (2) Humans naturally underestimate task durations, resulting in packed schedules. Creating an intelligent padding assistant usually requires a pinging out to cloud-based LLMs or hosting heavy offline TFLite libraries, both of which severely bloat the application memory and introduce latency.</a:t>
            </a:r>
          </a:p>
        </p:txBody>
      </p:sp>
      <p:sp>
        <p:nvSpPr>
          <p:cNvPr id="15" name="TextBox 14"/>
          <p:cNvSpPr txBox="1"/>
          <p:nvPr/>
        </p:nvSpPr>
        <p:spPr>
          <a:xfrm>
            <a:off x="10980000" y="6840000"/>
            <a:ext cx="8280000" cy="1080000"/>
          </a:xfrm>
          <a:prstGeom prst="rect">
            <a:avLst/>
          </a:prstGeom>
          <a:noFill/>
        </p:spPr>
        <p:txBody>
          <a:bodyPr wrap="none">
            <a:spAutoFit/>
          </a:bodyPr>
          <a:lstStyle/>
          <a:p>
            <a:pPr>
              <a:defRPr b="1" sz="5200">
                <a:solidFill>
                  <a:srgbClr val="222222"/>
                </a:solidFill>
              </a:defRPr>
            </a:pPr>
            <a:r>
              <a:t>Literature Review</a:t>
            </a:r>
          </a:p>
        </p:txBody>
      </p:sp>
      <p:sp>
        <p:nvSpPr>
          <p:cNvPr id="16" name="Rectangle 15"/>
          <p:cNvSpPr/>
          <p:nvPr/>
        </p:nvSpPr>
        <p:spPr>
          <a:xfrm>
            <a:off x="10980000" y="7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80000" y="8280000"/>
            <a:ext cx="8280000" cy="3600000"/>
          </a:xfrm>
          <a:prstGeom prst="rect">
            <a:avLst/>
          </a:prstGeom>
          <a:noFill/>
        </p:spPr>
        <p:txBody>
          <a:bodyPr wrap="square">
            <a:spAutoFit/>
          </a:bodyPr>
          <a:lstStyle/>
          <a:p>
            <a:pPr>
              <a:spcAft>
                <a:spcPts val="2000"/>
              </a:spcAft>
              <a:defRPr sz="2600">
                <a:solidFill>
                  <a:srgbClr val="222222"/>
                </a:solidFill>
              </a:defRPr>
            </a:pPr>
            <a:r>
              <a:t>Current productivity apps utilize either fixed manual buffers or heavyweight API integrations (e.g. OpenAI). For offline modeling, TensorFlow Lite is an industry standard but introduces ~30MB of library overhead. Studies on the Planning Fallacy suggest that dynamic padding predictions based on regression models of past human behavior significantly optimize realistic completion probability.</a:t>
            </a:r>
          </a:p>
        </p:txBody>
      </p:sp>
      <p:sp>
        <p:nvSpPr>
          <p:cNvPr id="18" name="TextBox 17"/>
          <p:cNvSpPr txBox="1"/>
          <p:nvPr/>
        </p:nvSpPr>
        <p:spPr>
          <a:xfrm>
            <a:off x="10980000" y="15840000"/>
            <a:ext cx="8280000" cy="1080000"/>
          </a:xfrm>
          <a:prstGeom prst="rect">
            <a:avLst/>
          </a:prstGeom>
          <a:noFill/>
        </p:spPr>
        <p:txBody>
          <a:bodyPr wrap="none">
            <a:spAutoFit/>
          </a:bodyPr>
          <a:lstStyle/>
          <a:p>
            <a:pPr>
              <a:defRPr b="1" sz="5200">
                <a:solidFill>
                  <a:srgbClr val="222222"/>
                </a:solidFill>
              </a:defRPr>
            </a:pPr>
            <a:r>
              <a:t>Methodology</a:t>
            </a:r>
          </a:p>
        </p:txBody>
      </p:sp>
      <p:sp>
        <p:nvSpPr>
          <p:cNvPr id="19" name="Rectangle 18"/>
          <p:cNvSpPr/>
          <p:nvPr/>
        </p:nvSpPr>
        <p:spPr>
          <a:xfrm>
            <a:off x="10980000" y="16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80000" y="17280000"/>
            <a:ext cx="8280000" cy="3600000"/>
          </a:xfrm>
          <a:prstGeom prst="rect">
            <a:avLst/>
          </a:prstGeom>
          <a:noFill/>
        </p:spPr>
        <p:txBody>
          <a:bodyPr wrap="square">
            <a:spAutoFit/>
          </a:bodyPr>
          <a:lstStyle/>
          <a:p>
            <a:pPr>
              <a:spcAft>
                <a:spcPts val="2000"/>
              </a:spcAft>
              <a:defRPr sz="2600">
                <a:solidFill>
                  <a:srgbClr val="222222"/>
                </a:solidFill>
              </a:defRPr>
            </a:pPr>
            <a:r>
              <a:t>Architecture Components</a:t>
            </a:r>
          </a:p>
          <a:p>
            <a:pPr>
              <a:spcAft>
                <a:spcPts val="2000"/>
              </a:spcAft>
              <a:defRPr sz="2600">
                <a:solidFill>
                  <a:srgbClr val="222222"/>
                </a:solidFill>
              </a:defRPr>
            </a:pPr>
            <a:r>
              <a:t>Offline Model Training: A neural network was trained externally using PyTorch over 300 epochs to map task durations to human padding requirements.</a:t>
            </a:r>
          </a:p>
          <a:p>
            <a:pPr>
              <a:spcAft>
                <a:spcPts val="2000"/>
              </a:spcAft>
              <a:defRPr sz="2600">
                <a:solidFill>
                  <a:srgbClr val="222222"/>
                </a:solidFill>
              </a:defRPr>
            </a:pPr>
          </a:p>
          <a:p>
            <a:pPr>
              <a:spcAft>
                <a:spcPts val="2000"/>
              </a:spcAft>
              <a:defRPr sz="2600">
                <a:solidFill>
                  <a:srgbClr val="222222"/>
                </a:solidFill>
              </a:defRPr>
            </a:pPr>
            <a:r>
              <a:t>The Bridge: Instead of adding heavy dependencies, a custom bridging layer extracted weights (W1, b1, W2, b2) into JSON. Inside the Android runtime, pure Kotlin matrix multiplication executes the forward pass natively at zero-latency.</a:t>
            </a:r>
          </a:p>
        </p:txBody>
      </p:sp>
      <p:sp>
        <p:nvSpPr>
          <p:cNvPr id="21" name="TextBox 20"/>
          <p:cNvSpPr txBox="1"/>
          <p:nvPr/>
        </p:nvSpPr>
        <p:spPr>
          <a:xfrm>
            <a:off x="10980000" y="24840000"/>
            <a:ext cx="8280000" cy="1080000"/>
          </a:xfrm>
          <a:prstGeom prst="rect">
            <a:avLst/>
          </a:prstGeom>
          <a:noFill/>
        </p:spPr>
        <p:txBody>
          <a:bodyPr wrap="none">
            <a:spAutoFit/>
          </a:bodyPr>
          <a:lstStyle/>
          <a:p>
            <a:pPr>
              <a:defRPr b="1" sz="5200">
                <a:solidFill>
                  <a:srgbClr val="222222"/>
                </a:solidFill>
              </a:defRPr>
            </a:pPr>
            <a:r>
              <a:t>Training &amp; Validation</a:t>
            </a:r>
          </a:p>
        </p:txBody>
      </p:sp>
      <p:sp>
        <p:nvSpPr>
          <p:cNvPr id="22" name="Rectangle 21"/>
          <p:cNvSpPr/>
          <p:nvPr/>
        </p:nvSpPr>
        <p:spPr>
          <a:xfrm>
            <a:off x="10980000" y="25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odel_loss.png"/>
          <p:cNvPicPr>
            <a:picLocks noChangeAspect="1"/>
          </p:cNvPicPr>
          <p:nvPr/>
        </p:nvPicPr>
        <p:blipFill>
          <a:blip r:embed="rId2"/>
          <a:stretch>
            <a:fillRect/>
          </a:stretch>
        </p:blipFill>
        <p:spPr>
          <a:xfrm>
            <a:off x="10980000" y="26280000"/>
            <a:ext cx="8280000" cy="6210000"/>
          </a:xfrm>
          <a:prstGeom prst="rect">
            <a:avLst/>
          </a:prstGeom>
        </p:spPr>
      </p:pic>
      <p:sp>
        <p:nvSpPr>
          <p:cNvPr id="24" name="TextBox 23"/>
          <p:cNvSpPr txBox="1"/>
          <p:nvPr/>
        </p:nvSpPr>
        <p:spPr>
          <a:xfrm>
            <a:off x="10980000" y="32850000"/>
            <a:ext cx="8280000" cy="1080000"/>
          </a:xfrm>
          <a:prstGeom prst="rect">
            <a:avLst/>
          </a:prstGeom>
          <a:noFill/>
        </p:spPr>
        <p:txBody>
          <a:bodyPr wrap="square">
            <a:spAutoFit/>
          </a:bodyPr>
          <a:lstStyle/>
          <a:p>
            <a:pPr>
              <a:defRPr i="1" sz="2200">
                <a:solidFill>
                  <a:srgbClr val="555555"/>
                </a:solidFill>
              </a:defRPr>
            </a:pPr>
            <a:r>
              <a:t>The model converged safely over 300 epochs. The residuals displayed a tight normal distribution clustered around zero, resulting in a Mean Absolute Error (MAE) of merely 1.77 minutes, proving gradient descent efficiently navigated local minimums.</a:t>
            </a:r>
          </a:p>
        </p:txBody>
      </p:sp>
      <p:sp>
        <p:nvSpPr>
          <p:cNvPr id="25" name="TextBox 24"/>
          <p:cNvSpPr txBox="1"/>
          <p:nvPr/>
        </p:nvSpPr>
        <p:spPr>
          <a:xfrm>
            <a:off x="20520000" y="6840000"/>
            <a:ext cx="8280000" cy="1080000"/>
          </a:xfrm>
          <a:prstGeom prst="rect">
            <a:avLst/>
          </a:prstGeom>
          <a:noFill/>
        </p:spPr>
        <p:txBody>
          <a:bodyPr wrap="none">
            <a:spAutoFit/>
          </a:bodyPr>
          <a:lstStyle/>
          <a:p>
            <a:pPr>
              <a:defRPr b="1" sz="5200">
                <a:solidFill>
                  <a:srgbClr val="222222"/>
                </a:solidFill>
              </a:defRPr>
            </a:pPr>
            <a:r>
              <a:t>Results &amp; Graphs</a:t>
            </a:r>
          </a:p>
        </p:txBody>
      </p:sp>
      <p:sp>
        <p:nvSpPr>
          <p:cNvPr id="26" name="Rectangle 25"/>
          <p:cNvSpPr/>
          <p:nvPr/>
        </p:nvSpPr>
        <p:spPr>
          <a:xfrm>
            <a:off x="20520000" y="7847999"/>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520000" y="8280000"/>
            <a:ext cx="8280000" cy="3600000"/>
          </a:xfrm>
          <a:prstGeom prst="rect">
            <a:avLst/>
          </a:prstGeom>
          <a:noFill/>
        </p:spPr>
        <p:txBody>
          <a:bodyPr wrap="square">
            <a:spAutoFit/>
          </a:bodyPr>
          <a:lstStyle/>
          <a:p>
            <a:pPr>
              <a:spcAft>
                <a:spcPts val="2000"/>
              </a:spcAft>
              <a:defRPr sz="2600">
                <a:solidFill>
                  <a:srgbClr val="222222"/>
                </a:solidFill>
              </a:defRPr>
            </a:pPr>
            <a:r>
              <a:t>The scatter predictions show a tight correlation between the initial duration and expected padding limits. Residual distributions form a steep normal curve centered securely at zero, proving the optimizer navigated the local minimums perfectly without detrimental overfitting.</a:t>
            </a:r>
          </a:p>
        </p:txBody>
      </p:sp>
      <p:pic>
        <p:nvPicPr>
          <p:cNvPr id="28" name="Picture 27" descr="graph_predictions.png"/>
          <p:cNvPicPr>
            <a:picLocks noChangeAspect="1"/>
          </p:cNvPicPr>
          <p:nvPr/>
        </p:nvPicPr>
        <p:blipFill>
          <a:blip r:embed="rId3"/>
          <a:stretch>
            <a:fillRect/>
          </a:stretch>
        </p:blipFill>
        <p:spPr>
          <a:xfrm>
            <a:off x="20520000" y="12960000"/>
            <a:ext cx="8280000" cy="5914286"/>
          </a:xfrm>
          <a:prstGeom prst="rect">
            <a:avLst/>
          </a:prstGeom>
        </p:spPr>
      </p:pic>
      <p:sp>
        <p:nvSpPr>
          <p:cNvPr id="29" name="TextBox 28"/>
          <p:cNvSpPr txBox="1"/>
          <p:nvPr/>
        </p:nvSpPr>
        <p:spPr>
          <a:xfrm>
            <a:off x="20520000" y="19954286"/>
            <a:ext cx="8280000" cy="1080000"/>
          </a:xfrm>
          <a:prstGeom prst="rect">
            <a:avLst/>
          </a:prstGeom>
          <a:noFill/>
        </p:spPr>
        <p:txBody>
          <a:bodyPr wrap="none">
            <a:spAutoFit/>
          </a:bodyPr>
          <a:lstStyle/>
          <a:p>
            <a:pPr>
              <a:defRPr b="1" sz="5200">
                <a:solidFill>
                  <a:srgbClr val="222222"/>
                </a:solidFill>
              </a:defRPr>
            </a:pPr>
            <a:r>
              <a:t>More Results</a:t>
            </a:r>
          </a:p>
        </p:txBody>
      </p:sp>
      <p:sp>
        <p:nvSpPr>
          <p:cNvPr id="30" name="Rectangle 29"/>
          <p:cNvSpPr/>
          <p:nvPr/>
        </p:nvSpPr>
        <p:spPr>
          <a:xfrm>
            <a:off x="20520000" y="20962285"/>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raph_residuals.png"/>
          <p:cNvPicPr>
            <a:picLocks noChangeAspect="1"/>
          </p:cNvPicPr>
          <p:nvPr/>
        </p:nvPicPr>
        <p:blipFill>
          <a:blip r:embed="rId4"/>
          <a:stretch>
            <a:fillRect/>
          </a:stretch>
        </p:blipFill>
        <p:spPr>
          <a:xfrm>
            <a:off x="20520000" y="21394286"/>
            <a:ext cx="8280000" cy="5914286"/>
          </a:xfrm>
          <a:prstGeom prst="rect">
            <a:avLst/>
          </a:prstGeom>
        </p:spPr>
      </p:pic>
      <p:sp>
        <p:nvSpPr>
          <p:cNvPr id="32" name="TextBox 31"/>
          <p:cNvSpPr txBox="1"/>
          <p:nvPr/>
        </p:nvSpPr>
        <p:spPr>
          <a:xfrm>
            <a:off x="20520000" y="28388572"/>
            <a:ext cx="8280000" cy="1080000"/>
          </a:xfrm>
          <a:prstGeom prst="rect">
            <a:avLst/>
          </a:prstGeom>
          <a:noFill/>
        </p:spPr>
        <p:txBody>
          <a:bodyPr wrap="none">
            <a:spAutoFit/>
          </a:bodyPr>
          <a:lstStyle/>
          <a:p>
            <a:pPr>
              <a:defRPr b="1" sz="5200">
                <a:solidFill>
                  <a:srgbClr val="222222"/>
                </a:solidFill>
              </a:defRPr>
            </a:pPr>
            <a:r>
              <a:t>Conclusion</a:t>
            </a:r>
          </a:p>
        </p:txBody>
      </p:sp>
      <p:sp>
        <p:nvSpPr>
          <p:cNvPr id="33" name="Rectangle 32"/>
          <p:cNvSpPr/>
          <p:nvPr/>
        </p:nvSpPr>
        <p:spPr>
          <a:xfrm>
            <a:off x="20520000" y="29396571"/>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20000" y="29828572"/>
            <a:ext cx="8280000" cy="3600000"/>
          </a:xfrm>
          <a:prstGeom prst="rect">
            <a:avLst/>
          </a:prstGeom>
          <a:noFill/>
        </p:spPr>
        <p:txBody>
          <a:bodyPr wrap="square">
            <a:spAutoFit/>
          </a:bodyPr>
          <a:lstStyle/>
          <a:p>
            <a:pPr>
              <a:spcAft>
                <a:spcPts val="2000"/>
              </a:spcAft>
              <a:defRPr sz="2600">
                <a:solidFill>
                  <a:srgbClr val="222222"/>
                </a:solidFill>
              </a:defRPr>
            </a:pPr>
            <a:r>
              <a:t>The custom ML framework enables a blazingly fast inference engine that solves the scheduling padding projection problem offline.</a:t>
            </a:r>
          </a:p>
        </p:txBody>
      </p:sp>
      <p:sp>
        <p:nvSpPr>
          <p:cNvPr id="35" name="TextBox 34"/>
          <p:cNvSpPr txBox="1"/>
          <p:nvPr/>
        </p:nvSpPr>
        <p:spPr>
          <a:xfrm>
            <a:off x="20520000" y="33068572"/>
            <a:ext cx="8280000" cy="1080000"/>
          </a:xfrm>
          <a:prstGeom prst="rect">
            <a:avLst/>
          </a:prstGeom>
          <a:noFill/>
        </p:spPr>
        <p:txBody>
          <a:bodyPr wrap="none">
            <a:spAutoFit/>
          </a:bodyPr>
          <a:lstStyle/>
          <a:p>
            <a:pPr>
              <a:defRPr b="1" sz="5200">
                <a:solidFill>
                  <a:srgbClr val="222222"/>
                </a:solidFill>
              </a:defRPr>
            </a:pPr>
            <a:r>
              <a:t>Future Work</a:t>
            </a:r>
          </a:p>
        </p:txBody>
      </p:sp>
      <p:sp>
        <p:nvSpPr>
          <p:cNvPr id="36" name="Rectangle 35"/>
          <p:cNvSpPr/>
          <p:nvPr/>
        </p:nvSpPr>
        <p:spPr>
          <a:xfrm>
            <a:off x="20520000" y="34076571"/>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520000" y="34508572"/>
            <a:ext cx="8280000" cy="3600000"/>
          </a:xfrm>
          <a:prstGeom prst="rect">
            <a:avLst/>
          </a:prstGeom>
          <a:noFill/>
        </p:spPr>
        <p:txBody>
          <a:bodyPr wrap="square">
            <a:spAutoFit/>
          </a:bodyPr>
          <a:lstStyle/>
          <a:p>
            <a:pPr>
              <a:spcAft>
                <a:spcPts val="2000"/>
              </a:spcAft>
              <a:defRPr sz="2600">
                <a:solidFill>
                  <a:srgbClr val="222222"/>
                </a:solidFill>
              </a:defRPr>
            </a:pPr>
            <a:r>
              <a:t>Future iterations will fully unleash the Adaptive Time Intelligence (ATI) bridge. As a user completes tasks natively, the framework will blend the pre-trained neural network baseline with the user's localized regression model (in 10% steps), infinitely adapting the padding to the individual's unique procrastination behaviors over time.</a:t>
            </a:r>
          </a:p>
        </p:txBody>
      </p:sp>
      <p:sp>
        <p:nvSpPr>
          <p:cNvPr id="38" name="TextBox 37"/>
          <p:cNvSpPr txBox="1"/>
          <p:nvPr/>
        </p:nvSpPr>
        <p:spPr>
          <a:xfrm>
            <a:off x="20520000" y="40988572"/>
            <a:ext cx="8280000" cy="1080000"/>
          </a:xfrm>
          <a:prstGeom prst="rect">
            <a:avLst/>
          </a:prstGeom>
          <a:noFill/>
        </p:spPr>
        <p:txBody>
          <a:bodyPr wrap="none">
            <a:spAutoFit/>
          </a:bodyPr>
          <a:lstStyle/>
          <a:p>
            <a:pPr>
              <a:defRPr b="1" sz="5200">
                <a:solidFill>
                  <a:srgbClr val="222222"/>
                </a:solidFill>
              </a:defRPr>
            </a:pPr>
            <a:r>
              <a:t>References</a:t>
            </a:r>
          </a:p>
        </p:txBody>
      </p:sp>
      <p:sp>
        <p:nvSpPr>
          <p:cNvPr id="39" name="Rectangle 38"/>
          <p:cNvSpPr/>
          <p:nvPr/>
        </p:nvSpPr>
        <p:spPr>
          <a:xfrm>
            <a:off x="20520000" y="41996571"/>
            <a:ext cx="8280000" cy="72000"/>
          </a:xfrm>
          <a:prstGeom prst="rect">
            <a:avLst/>
          </a:prstGeom>
          <a:solidFill>
            <a:srgbClr val="EF7A21"/>
          </a:solidFill>
          <a:ln>
            <a:solidFill>
              <a:srgbClr val="EF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520000" y="42428572"/>
            <a:ext cx="8280000" cy="3600000"/>
          </a:xfrm>
          <a:prstGeom prst="rect">
            <a:avLst/>
          </a:prstGeom>
          <a:noFill/>
        </p:spPr>
        <p:txBody>
          <a:bodyPr wrap="square">
            <a:spAutoFit/>
          </a:bodyPr>
          <a:lstStyle/>
          <a:p>
            <a:pPr>
              <a:spcAft>
                <a:spcPts val="2000"/>
              </a:spcAft>
              <a:defRPr sz="2600">
                <a:solidFill>
                  <a:srgbClr val="222222"/>
                </a:solidFill>
              </a:defRPr>
            </a:pPr>
            <a:r>
              <a:t>1. PlannEd App Analytics and Design Documentation.</a:t>
            </a:r>
          </a:p>
          <a:p>
            <a:pPr>
              <a:spcAft>
                <a:spcPts val="2000"/>
              </a:spcAft>
              <a:defRPr sz="2600">
                <a:solidFill>
                  <a:srgbClr val="222222"/>
                </a:solidFill>
              </a:defRPr>
            </a:pPr>
            <a:r>
              <a:t>2. The Planning Fallacy - Psychological studies on time estimation.</a:t>
            </a:r>
          </a:p>
          <a:p>
            <a:pPr>
              <a:spcAft>
                <a:spcPts val="2000"/>
              </a:spcAft>
              <a:defRPr sz="2600">
                <a:solidFill>
                  <a:srgbClr val="222222"/>
                </a:solidFill>
              </a:defRPr>
            </a:pPr>
            <a:r>
              <a:t>3. PyTorch &amp; NumPy Documentation - Lightweight native exports.</a:t>
            </a:r>
          </a:p>
          <a:p>
            <a:pPr>
              <a:spcAft>
                <a:spcPts val="2000"/>
              </a:spcAft>
              <a:defRPr sz="2600">
                <a:solidFill>
                  <a:srgbClr val="222222"/>
                </a:solidFill>
              </a:defRPr>
            </a:pPr>
            <a:r>
              <a:t>4. Scikit-learn documentation for MLP concepts.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